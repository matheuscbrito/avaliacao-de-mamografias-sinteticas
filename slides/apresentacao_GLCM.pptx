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4fc2b2a9347cb" /><Relationship Type="http://schemas.openxmlformats.org/officeDocument/2006/relationships/extended-properties" Target="/docProps/app.xml" Id="R2bc1eb435b854183" /><Relationship Type="http://schemas.openxmlformats.org/officeDocument/2006/relationships/officeDocument" Target="/ppt/presentation.xml" Id="Rdb31e4e5f0ab4a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a82a086c6436c"/>
  </p:sldMasterIdLst>
  <p:notesMasterIdLst>
    <p:notesMasterId xmlns:r="http://schemas.openxmlformats.org/officeDocument/2006/relationships" r:id="R2f513c448af940f9"/>
  </p:notesMasterIdLst>
  <p:sldIdLst>
    <p:sldId xmlns:r="http://schemas.openxmlformats.org/officeDocument/2006/relationships" id="256" r:id="R6739855258d3469b"/>
    <p:sldId xmlns:r="http://schemas.openxmlformats.org/officeDocument/2006/relationships" id="257" r:id="R46e9468e0b83453c"/>
    <p:sldId xmlns:r="http://schemas.openxmlformats.org/officeDocument/2006/relationships" id="258" r:id="Rcontrastclosing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b0e1c98085274322" /><Relationship Type="http://schemas.openxmlformats.org/officeDocument/2006/relationships/slideMaster" Target="/ppt/slideMasters/slideMaster1.xml" Id="R317a82a086c6436c" /><Relationship Type="http://schemas.openxmlformats.org/officeDocument/2006/relationships/notesMaster" Target="/ppt/notesMasters/notesMaster1.xml" Id="R2f513c448af940f9" /><Relationship Type="http://schemas.openxmlformats.org/officeDocument/2006/relationships/presProps" Target="/ppt/presProps.xml" Id="R75952bca43b84d87" /><Relationship Type="http://schemas.openxmlformats.org/officeDocument/2006/relationships/tableStyles" Target="/ppt/tableStyles.xml" Id="R15699c3c35974d79" /><Relationship Type="http://schemas.openxmlformats.org/officeDocument/2006/relationships/slide" Target="/ppt/slides/slide1.xml" Id="R6739855258d3469b" /><Relationship Type="http://schemas.openxmlformats.org/officeDocument/2006/relationships/slide" Target="/ppt/slides/slide2.xml" Id="R46e9468e0b83453c" /><Relationship Type="http://schemas.openxmlformats.org/officeDocument/2006/relationships/slide" Target="/ppt/slides/slide3.xml" Id="Rcontrastclosing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fed3796cda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b50ebf9624419" /><Relationship Type="http://schemas.openxmlformats.org/officeDocument/2006/relationships/notesMaster" Target="/ppt/notesMasters/notesMaster1.xml" Id="Rc05efa3d43b0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bd3aa23ed4c0d" /><Relationship Type="http://schemas.openxmlformats.org/officeDocument/2006/relationships/notesMaster" Target="/ppt/notesMasters/notesMaster1.xml" Id="R36b0715d9631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de par do dataset atual. O framework recebe a sintética e a original que a condicionou; a referência de originais validadas fica carregada em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mostra a referência GLCM calculada nas originais validadas do piloto. A tabela resume a regra atual: só o caso distante do par e fora da referência recebe rejeição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471a7fb40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e29a176d24d72" /><Relationship Type="http://schemas.openxmlformats.org/officeDocument/2006/relationships/slideLayout" Target="/ppt/slideLayouts/slideLayout1.xml" Id="Rdeca627217fd43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a627217fd43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c785434364658" /><Relationship Type="http://schemas.openxmlformats.org/officeDocument/2006/relationships/image" Target="/ppt/media/image.png" Id="R7e1fc0dff2c04ece" /><Relationship Type="http://schemas.openxmlformats.org/officeDocument/2006/relationships/image" Target="/ppt/media/image2.png" Id="Rb6991aca2fc84798" /><Relationship Type="http://schemas.openxmlformats.org/officeDocument/2006/relationships/notesSlide" Target="/ppt/notesSlides/notesSlide1.xml" Id="R861eba07d3e947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d172e08f64120" /><Relationship Type="http://schemas.openxmlformats.org/officeDocument/2006/relationships/image" Target="/ppt/media/image3.png" Id="Re5161b1edfd1408e" /><Relationship Type="http://schemas.openxmlformats.org/officeDocument/2006/relationships/notesSlide" Target="/ppt/notesSlides/notesSlide2.xml" Id="R16f7c042e0764141" /></Relationships>
</file>

<file path=ppt/slides/_rels/slide3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1.xml" Id="rId1"/><Relationship Type="http://schemas.openxmlformats.org/officeDocument/2006/relationships/image" Target="/ppt/media/image4.png" Id="rId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00620-01F0-4CD8-A1BE-CAB33BE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Funcionamento do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C63E-9FEF-40B7-9F1A-6BBFDF10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Avaliação de uma CT sintética, sempre vinculada à imagem original que a condicionou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c0dff2c04e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04950"/>
            <a:ext cx="1676400" cy="16764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91aca2fc8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09850" y="1504950"/>
            <a:ext cx="1676400" cy="16764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E0E91-FF43-4653-9FDE-DDC288CF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Original que condicionou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1AFFC-89BE-46F4-BE11-3168D4A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57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Sintética avaliada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4511E-546D-48EA-8DAE-0D35C3D4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04950"/>
            <a:ext cx="1409700" cy="1676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8D2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78AF1-6030-448A-8292-BC5DB24A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1927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Máscara</a:t>
            </a:r>
          </a:p>
          <a:p xmlns:a="http://schemas.openxmlformats.org/drawingml/2006/main">
            <a:pPr>
              <a:def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pulmonar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BC3D9-8464-425D-9133-07FBD46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76500"/>
            <a:ext cx="1104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Região branca</a:t>
            </a:r>
          </a:p>
          <a:p xmlns:a="http://schemas.openxmlformats.org/drawingml/2006/main">
            <a:pPr>
              <a:def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com erosão leve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5B820-61E5-4267-B0BB-51554029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2573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Região analisada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97EBA-76AE-4147-8072-0D56DB9D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9530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1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8200C-FA2C-48C8-9B71-646B25CB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90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Processamento interno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854F5-600D-464A-AF46-3641BBA0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71675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Clipping e discretização fixos</a:t>
            </a:r>
          </a:p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Erosão leve da borda</a:t>
            </a:r>
          </a:p>
          <a:p xmlns:a="http://schemas.openxmlformats.org/drawingml/2006/main">
            <a:pPr>
              <a:def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Apenas pares de pixels dentro do pulmão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B2E0A-E4C4-46BA-BE6D-9DF9C57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33575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GLCM</a:t>
            </a:r>
          </a:p>
          <a:p xmlns:a="http://schemas.openxmlformats.org/drawingml/2006/main">
            <a:pPr>
              <a:def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contraste · energia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DFDC3-D209-4267-A5CF-EE6A40A4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33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Depois: GLRLM,</a:t>
            </a:r>
          </a:p>
          <a:p xmlns:a="http://schemas.openxmlformats.org/drawingml/2006/main">
            <a:pPr>
              <a:def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Power Spectrum e Wavelet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96276-0BB3-4324-85E7-6F2D4A0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4480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31ED-7861-4285-9157-B2AA7F35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11DB1-3D86-42F9-9E49-AB26989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1 par de imagens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Original + sintética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 original precisa ter passado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por validação prévia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C6F8F-EA04-4D7A-95ED-C6AC6C8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8D2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4C2B3-351A-4565-89FD-8FA6FDD5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62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Referência em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DEF53-9268-4946-ACC6-01BD1CCB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720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Distribuição das originais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validadas do 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Não entra como input:</a:t>
            </a:r>
          </a:p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o framework já carrega esse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41E16-52C4-463D-9AF8-0EA8BAC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32956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5F4EA"/>
          </a:solidFill>
          <a:ln xmlns:a="http://schemas.openxmlformats.org/drawingml/2006/main" w="9525">
            <a:solidFill>
              <a:srgbClr val="B8DE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FFBF7-67DF-4A80-A98A-AFF7EC0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Duas perguntas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F92EB-EE1E-418C-9954-9269ABED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81525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Preservou a textura do par?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Continua plausível entre</a:t>
            </a:r>
          </a:p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as CTs reais validadas?</a:t>
            </a:r>
          </a:p>
        </p:txBody>
      </p:sp>
    </p:spTree>
    <p:extLst>
      <p:ext uri="{BB962C8B-B14F-4D97-AF65-F5344CB8AC3E}">
        <p14:creationId xmlns:p14="http://schemas.microsoft.com/office/powerpoint/2010/main" val="1221648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F598E-1AAC-452F-8471-0D572F3E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Decisão para data augmentation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FEDE3-F5B3-42E8-93A0-7C3A8FB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A decisão cruza fidelidade ao par com compatibilidade perante a referência real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61b1edfd1408e"/>
          <a:stretch xmlns:a="http://schemas.openxmlformats.org/drawingml/2006/main"/>
        </p:blipFill>
        <p:spPr>
          <a:xfrm xmlns:a="http://schemas.openxmlformats.org/drawingml/2006/main">
            <a:off x="628650" y="2324322"/>
            <a:ext cx="3857625" cy="1418782"/>
          </a:xfrm>
          <a:prstGeom xmlns:a="http://schemas.openxmlformats.org/drawingml/2006/main" prst="roundRect">
            <a:avLst>
              <a:gd name="adj" fmla="val 183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59FCB-1A08-4DC2-8571-5DD63CD9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Referência real em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C91B-FCC6-47C2-8140-416D175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590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Média, dispersão, mediana e outliers</a:t>
            </a:r>
          </a:p>
          <a:p xmlns:a="http://schemas.openxmlformats.org/drawingml/2006/main">
            <a:pPr>
              <a:def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calculados somente nas originais validadas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63F3-E32B-4A90-B488-7222866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620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Quatro leituras possíveis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72050" y="1781175"/>
          <a:ext xmlns:a="http://schemas.openxmlformats.org/drawingml/2006/main" cx="6505575" cy="3181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2314575"/>
                <a:gridCol w="2714625"/>
              </a:tblGrid>
              <a:tr h="6362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 original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Referência real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123B63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Próxima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Dentro da faixa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Aprovar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Próxima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e sintética raras</a:t>
                      </a:r>
                    </a:p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mesmo sentido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85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Aprovar com observação</a:t>
                      </a:r>
                    </a:p>
                  </a:txBody>
                  <a:tcPr marL="91440" marR="91440" marT="45720" marB="45720">
                    <a:solidFill>
                      <a:srgbClr val="E5F4EA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Distante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Dentro da faixa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Revisão manual</a:t>
                      </a:r>
                    </a:p>
                    <a:p>
                      <a:r>
                        <a:rPr sz="1200" b="1">
                          <a:solidFill>
                            <a:srgbClr val="B7791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Possível regressão à média</a:t>
                      </a:r>
                    </a:p>
                  </a:txBody>
                  <a:tcPr marL="91440" marR="91440" marT="45720" marB="45720">
                    <a:solidFill>
                      <a:srgbClr val="FFF4D8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Distante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6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Fora da faixa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530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Rejeitar</a:t>
                      </a:r>
                    </a:p>
                    <a:p>
                      <a:r>
                        <a:rPr sz="1200" b="1">
                          <a:solidFill>
                            <a:srgbClr val="C530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Não entra no augmentation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8926B-43BD-4858-B66C-12336E4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67325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Somente o caso em vermelho é descartado automaticamente. O caso amarelo fica fora até revisão, porque pode apagar diversidade útil do dataset.</a:t>
            </a:r>
          </a:p>
        </p:txBody>
      </p:sp>
    </p:spTree>
    <p:extLst>
      <p:ext uri="{BB962C8B-B14F-4D97-AF65-F5344CB8AC3E}">
        <p14:creationId xmlns:p14="http://schemas.microsoft.com/office/powerpoint/2010/main" val="1435631747"/>
      </p:ext>
    </p:extLst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ítulo"/>
          <p:cNvSpPr txBox="1"/>
          <p:nvPr/>
        </p:nvSpPr>
        <p:spPr>
          <a:xfrm>
            <a:off x="609600" y="400050"/>
            <a:ext cx="10500000" cy="50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250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Contraste GLCM: redução de variação local nas sintéticas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628650" y="900000"/>
            <a:ext cx="10000000" cy="28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1300" b="0">
                <a:solidFill>
                  <a:srgbClr val="6B7A89"/>
                </a:solidFill>
                <a:latin typeface="Helvetica Neue"/>
                <a:ea typeface="Helvetica Neue"/>
                <a:cs typeface="Helvetica Neue"/>
              </a:rPr>
              <a:t>Mesma ROI pulmonar e mesma escala global de 32 tons em todos os pares</a:t>
            </a:r>
          </a:p>
        </p:txBody>
      </p:sp>
      <p:sp>
        <p:nvSpPr>
          <p:cNvPr id="5" name="Moldura do gráfico"/>
          <p:cNvSpPr/>
          <p:nvPr/>
        </p:nvSpPr>
        <p:spPr>
          <a:xfrm>
            <a:off x="609600" y="1350000"/>
            <a:ext cx="5150000" cy="3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B"/>
            </a:solidFill>
          </a:ln>
        </p:spPr>
      </p:sp>
      <p:pic>
        <p:nvPicPr>
          <p:cNvPr id="3" name="Gráfico de contras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0" y="1510000"/>
            <a:ext cx="4800000" cy="3400000"/>
          </a:xfrm>
          <a:prstGeom prst="rect">
            <a:avLst/>
          </a:prstGeom>
        </p:spPr>
      </p:pic>
      <p:sp>
        <p:nvSpPr>
          <p:cNvPr id="6" name="Leitura do gráfico"/>
          <p:cNvSpPr txBox="1"/>
          <p:nvPr/>
        </p:nvSpPr>
        <p:spPr>
          <a:xfrm>
            <a:off x="6200000" y="1420000"/>
            <a:ext cx="53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16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O que o gráfico mostra</a:t>
            </a:r>
          </a:p>
        </p:txBody>
      </p:sp>
      <p:sp>
        <p:nvSpPr>
          <p:cNvPr id="7" name="Resultados"/>
          <p:cNvSpPr txBox="1"/>
          <p:nvPr/>
        </p:nvSpPr>
        <p:spPr>
          <a:xfrm>
            <a:off x="6200000" y="1850000"/>
            <a:ext cx="5200000" cy="105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26 de 37 sintéticas ficam abaixo da diagonal.</a:t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A mediana cai de 6,00 para 3,86.</a:t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As originais variam bastante; as sintéticas se</a:t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concentram em uma faixa mais estreita.</a:t>
            </a:r>
          </a:p>
        </p:txBody>
      </p:sp>
      <p:sp>
        <p:nvSpPr>
          <p:cNvPr id="8" name="Separador"/>
          <p:cNvSpPr/>
          <p:nvPr/>
        </p:nvSpPr>
        <p:spPr>
          <a:xfrm>
            <a:off x="6200000" y="3100000"/>
            <a:ext cx="5200000" cy="16000"/>
          </a:xfrm>
          <a:prstGeom prst="rect">
            <a:avLst/>
          </a:prstGeom>
          <a:solidFill>
            <a:srgbClr val="D6E1EB"/>
          </a:solidFill>
          <a:ln w="0">
            <a:noFill/>
          </a:ln>
        </p:spPr>
      </p:sp>
      <p:sp>
        <p:nvSpPr>
          <p:cNvPr id="9" name="Explicação"/>
          <p:cNvSpPr txBox="1"/>
          <p:nvPr/>
        </p:nvSpPr>
        <p:spPr>
          <a:xfrm>
            <a:off x="6200000" y="3340000"/>
            <a:ext cx="5200000" cy="32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1600" b="1">
                <a:solidFill>
                  <a:srgbClr val="123B63"/>
                </a:solidFill>
                <a:latin typeface="Helvetica Neue"/>
                <a:ea typeface="Helvetica Neue"/>
                <a:cs typeface="Helvetica Neue"/>
              </a:rPr>
              <a:t>Por que o contraste cai</a:t>
            </a:r>
          </a:p>
        </p:txBody>
      </p:sp>
      <p:sp>
        <p:nvSpPr>
          <p:cNvPr id="10" name="Mecanismo"/>
          <p:cNvSpPr txBox="1"/>
          <p:nvPr/>
        </p:nvSpPr>
        <p:spPr>
          <a:xfrm>
            <a:off x="6200000" y="3760000"/>
            <a:ext cx="5200000" cy="105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O GLCM aumenta o contraste quando pixels vizinhos</a:t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ocupam tons diferentes.</a:t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Quando a síntese torna vizinhos mais parecidos, reduz</a:t>
            </a:r>
          </a:p>
          <a:p>
            <a:pPr/>
            <a:r>
              <a:rPr sz="1400" b="0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os saltos locais de tom e o contraste GLCM diminui.</a:t>
            </a:r>
          </a:p>
        </p:txBody>
      </p:sp>
      <p:sp>
        <p:nvSpPr>
          <p:cNvPr id="11" name="Nota final"/>
          <p:cNvSpPr/>
          <p:nvPr/>
        </p:nvSpPr>
        <p:spPr>
          <a:xfrm>
            <a:off x="609600" y="5520000"/>
            <a:ext cx="10800000" cy="830000"/>
          </a:xfrm>
          <a:prstGeom prst="rect">
            <a:avLst/>
          </a:prstGeom>
          <a:solidFill>
            <a:srgbClr val="FFF4D8"/>
          </a:solidFill>
          <a:ln w="9525">
            <a:solidFill>
              <a:srgbClr val="E7C86E"/>
            </a:solidFill>
          </a:ln>
        </p:spPr>
      </p:sp>
      <p:sp>
        <p:nvSpPr>
          <p:cNvPr id="12" name="Interpretação responsável"/>
          <p:cNvSpPr txBox="1"/>
          <p:nvPr/>
        </p:nvSpPr>
        <p:spPr>
          <a:xfrm>
            <a:off x="900000" y="5750000"/>
            <a:ext cx="10150000" cy="360000"/>
          </a:xfrm>
          <a:prstGeom prst="rect">
            <a:avLst/>
          </a:prstGeom>
          <a:noFill/>
          <a:ln w="0">
            <a:noFill/>
          </a:ln>
        </p:spPr>
        <p:txBody>
          <a:bodyPr wrap="square"/>
          <a:lstStyle/>
          <a:p>
            <a:pPr/>
            <a:r>
              <a:rPr sz="1300" b="1">
                <a:solidFill>
                  <a:srgbClr val="10263D"/>
                </a:solidFill>
                <a:latin typeface="Helvetica Neue"/>
                <a:ea typeface="Helvetica Neue"/>
                <a:cs typeface="Helvetica Neue"/>
              </a:rPr>
              <a:t>Leitura responsável: padrão compatível com compressão de textura local. A escala comum torna a queda comparável, mas o GLCM não demonstra, sozinho, perda de informação clínica.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2026-09-04T11:18:44.8250000Z</dcterms:created>
  <dcterms:modified xsi:type="dcterms:W3CDTF">2026-09-04T11:18:44.8250000Z</dcterms:modified>
</coreProperties>
</file>