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afbd86c7b14f72" /><Relationship Type="http://schemas.openxmlformats.org/officeDocument/2006/relationships/extended-properties" Target="/docProps/app.xml" Id="R2bf9d28dc77346d6" /><Relationship Type="http://schemas.openxmlformats.org/officeDocument/2006/relationships/officeDocument" Target="/ppt/presentation.xml" Id="Ra2697a81a20246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8c6013fcc443db"/>
  </p:sldMasterIdLst>
  <p:notesMasterIdLst>
    <p:notesMasterId xmlns:r="http://schemas.openxmlformats.org/officeDocument/2006/relationships" r:id="R143e5a1ccdb344ff"/>
  </p:notesMasterIdLst>
  <p:sldIdLst>
    <p:sldId xmlns:r="http://schemas.openxmlformats.org/officeDocument/2006/relationships" id="256" r:id="Rd562ad6cc4f241af"/>
    <p:sldId xmlns:r="http://schemas.openxmlformats.org/officeDocument/2006/relationships" id="257" r:id="Rb44696c13df346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6abc7503834e27" /><Relationship Type="http://schemas.openxmlformats.org/officeDocument/2006/relationships/slideMaster" Target="/ppt/slideMasters/slideMaster1.xml" Id="R738c6013fcc443db" /><Relationship Type="http://schemas.openxmlformats.org/officeDocument/2006/relationships/notesMaster" Target="/ppt/notesMasters/notesMaster1.xml" Id="R143e5a1ccdb344ff" /><Relationship Type="http://schemas.openxmlformats.org/officeDocument/2006/relationships/presProps" Target="/ppt/presProps.xml" Id="R0013e5c5eeb748ef" /><Relationship Type="http://schemas.openxmlformats.org/officeDocument/2006/relationships/tableStyles" Target="/ppt/tableStyles.xml" Id="R03e4e14a6ce54a75" /><Relationship Type="http://schemas.openxmlformats.org/officeDocument/2006/relationships/slide" Target="/ppt/slides/slide1.xml" Id="Rd562ad6cc4f241af" /><Relationship Type="http://schemas.openxmlformats.org/officeDocument/2006/relationships/slide" Target="/ppt/slides/slide2.xml" Id="Rb44696c13df346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54be9668a148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8a7eb4e1c34aa9" /><Relationship Type="http://schemas.openxmlformats.org/officeDocument/2006/relationships/notesMaster" Target="/ppt/notesMasters/notesMaster1.xml" Id="Ra8002183d4984a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9e69ba5de24d97" /><Relationship Type="http://schemas.openxmlformats.org/officeDocument/2006/relationships/notesMaster" Target="/ppt/notesMasters/notesMaster1.xml" Id="R95399729ef5544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de par do dataset atual. O framework recebe a sintética e a original que a condicionou; a referência de originais validadas fica carregada em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gráfico mostra a referência GLCM calculada nas originais validadas do piloto. A tabela resume a regra atual: só o caso distante do par e fora da referência recebe rejeição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e06a63d054b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7bd963cef543f3" /><Relationship Type="http://schemas.openxmlformats.org/officeDocument/2006/relationships/slideLayout" Target="/ppt/slideLayouts/slideLayout1.xml" Id="Ra81fb507cbf94e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1fb507cbf94e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ca50d1a8f4cf4" /><Relationship Type="http://schemas.openxmlformats.org/officeDocument/2006/relationships/image" Target="/ppt/media/image.png" Id="Rc9554d9af4844ff3" /><Relationship Type="http://schemas.openxmlformats.org/officeDocument/2006/relationships/image" Target="/ppt/media/image2.png" Id="Rffc4632072ac42c3" /><Relationship Type="http://schemas.openxmlformats.org/officeDocument/2006/relationships/notesSlide" Target="/ppt/notesSlides/notesSlide1.xml" Id="R99cd8d3a848340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997bcbaed4d03" /><Relationship Type="http://schemas.openxmlformats.org/officeDocument/2006/relationships/image" Target="/ppt/media/image3.png" Id="R780c3e33bdfc4ec1" /><Relationship Type="http://schemas.openxmlformats.org/officeDocument/2006/relationships/notesSlide" Target="/ppt/notesSlides/notesSlide2.xml" Id="Ra2da04abd01f42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193AC8-F785-40C5-85ED-2CCFCA75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Funcionamento do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83575-F0E4-4AEC-8F80-272694E4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Avaliação de uma CT sintética, sempre vinculada à imagem original que a condicionou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54d9af4844f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04950"/>
            <a:ext cx="1676400" cy="1676400"/>
          </a:xfrm>
          <a:prstGeom xmlns:a="http://schemas.openxmlformats.org/drawingml/2006/main" prst="roundRect">
            <a:avLst>
              <a:gd name="adj" fmla="val 3409"/>
            </a:avLst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4632072ac42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09850" y="1504950"/>
            <a:ext cx="1676400" cy="1676400"/>
          </a:xfrm>
          <a:prstGeom xmlns:a="http://schemas.openxmlformats.org/drawingml/2006/main" prst="roundRect">
            <a:avLst>
              <a:gd name="adj" fmla="val 340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52F37-5C45-4ECE-89F3-19F5BE89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Original que condicionou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6CD22-BD52-4C74-81DC-B56E3F01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573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Sintética avaliada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170B2-929E-4697-AE40-96FE7BEC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504950"/>
            <a:ext cx="1409700" cy="16764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8D2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0E305-7064-48F1-AEB4-37A57F4A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907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Máscara</a:t>
            </a:r>
          </a:p>
          <a:p xmlns:a="http://schemas.openxmlformats.org/drawingml/2006/main">
            <a:pPr>
              <a:defRPr sz="1575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pulmonar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C03EA-0570-4785-837E-5C85810A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19350"/>
            <a:ext cx="102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mesma posição</a:t>
            </a:r>
          </a:p>
          <a:p xmlns:a="http://schemas.openxmlformats.org/drawingml/2006/main">
            <a:pPr>
              <a:defRPr sz="105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no par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B7CF4-A0E0-41BA-B95B-EE998FBE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2573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Região analisada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DD661-0EC6-426E-97F7-8451E8A2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381125"/>
            <a:ext cx="49530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1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084C8-BB61-44E6-A84A-3943682B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5906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Processamento interno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97196-45C8-4BD8-86C2-0B71C884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71675"/>
            <a:ext cx="2400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Clipping e discretização fixos</a:t>
            </a:r>
          </a:p>
          <a:p xmlns:a="http://schemas.openxmlformats.org/drawingml/2006/main">
            <a:pPr>
              <a:defRPr sz="120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Erosão leve da borda</a:t>
            </a:r>
          </a:p>
          <a:p xmlns:a="http://schemas.openxmlformats.org/drawingml/2006/main">
            <a:pPr>
              <a:defRPr sz="120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Apenas pares de pixels dentro do pulmão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AB535-8BC1-40B8-B153-6A3EB948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33575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GLCM</a:t>
            </a:r>
          </a:p>
          <a:p xmlns:a="http://schemas.openxmlformats.org/drawingml/2006/main">
            <a:pPr>
              <a:defRPr sz="1275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contraste · energia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57C82-6CB2-4FBE-AD2C-7851AF44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43175"/>
            <a:ext cx="1733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Depois: GLRLM,</a:t>
            </a:r>
          </a:p>
          <a:p xmlns:a="http://schemas.openxmlformats.org/drawingml/2006/main">
            <a:pPr>
              <a:defRPr sz="105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Power Spectrum e Wavelet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74F64-A4A5-4E67-83E7-971F1A01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34480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820D7-506D-4A67-9316-EC733BCC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Entrada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4E004-0418-470F-AC4E-09A39ED3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281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1 par de imagens</a:t>
            </a:r>
          </a:p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Original + sintética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A original precisa ter passado</a:t>
            </a:r>
          </a:p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por validação prévia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E4A552-CC44-4C61-89BE-5777EA8C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43350"/>
            <a:ext cx="34671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8D2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FB09C-669C-4EE2-88BE-8BC651D2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162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Referência em background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A161E6-3172-43BC-92EC-BC95FA57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7200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Distribuição das originais</a:t>
            </a:r>
          </a:p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validadas do dataset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Não entra como input:</a:t>
            </a:r>
          </a:p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o framework já carrega esse perfil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073259-5EF7-4A1F-8DCC-6A3DE374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43350"/>
            <a:ext cx="32956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5F4EA"/>
          </a:solidFill>
          <a:ln xmlns:a="http://schemas.openxmlformats.org/drawingml/2006/main" w="9525">
            <a:solidFill>
              <a:srgbClr val="B8DE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E24FDD-A7D5-40F2-A622-93FB38D0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624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Duas perguntas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B469EF-D566-4432-9960-6ABA2FA7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81525"/>
            <a:ext cx="2571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Preservou a textura do par?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Continua plausível entre</a:t>
            </a:r>
          </a:p>
          <a:p xmlns:a="http://schemas.openxmlformats.org/drawingml/2006/main">
            <a:pPr>
              <a:def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as CTs reais validadas?</a:t>
            </a:r>
          </a:p>
        </p:txBody>
      </p:sp>
      <p:cxnSp>
        <p:nvCxnSpPr>
          <p:cNvPr id="52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53125" y="2343150"/>
            <a:ext cx="561975" cy="2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74B5"/>
            </a:solidFill>
            <a:prstDash val="solid"/>
            <a:head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076700" y="4962525"/>
            <a:ext cx="409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74B5"/>
            </a:solidFill>
            <a:prstDash val="solid"/>
            <a:head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848600" y="49625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74B5"/>
            </a:solidFill>
            <a:prstDash val="solid"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10577592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FCD67-3761-47AF-9BC3-C8A3DD4F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Decisão para data augmentation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CE95A-1301-4284-8CE7-15A51679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A decisão cruza fidelidade ao par com compatibilidade perante a referência real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c3e33bdfc4ec1"/>
          <a:srcRect xmlns:a="http://schemas.openxmlformats.org/drawingml/2006/main" l="27224" t="0" r="272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476375"/>
            <a:ext cx="3857625" cy="3114675"/>
          </a:xfrm>
          <a:prstGeom xmlns:a="http://schemas.openxmlformats.org/drawingml/2006/main" prst="roundRect">
            <a:avLst>
              <a:gd name="adj" fmla="val 183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579C2-FBE0-4243-AEAD-4AA8CC9B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72025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Referência real em background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A9185-BE86-46FA-A50F-67956EDC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3590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Média, dispersão, mediana e outliers</a:t>
            </a:r>
          </a:p>
          <a:p xmlns:a="http://schemas.openxmlformats.org/drawingml/2006/main">
            <a:pPr>
              <a:defRPr sz="112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calculados somente nas originais validadas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1E44D-9F68-4FFC-A3DA-0B89FEA3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36207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Quatro leituras possíveis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972050" y="1781175"/>
          <a:ext xmlns:a="http://schemas.openxmlformats.org/drawingml/2006/main" cx="6505575" cy="31813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76375"/>
                <a:gridCol w="2314575"/>
                <a:gridCol w="2714625"/>
              </a:tblGrid>
              <a:tr h="6362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 original</a:t>
                      </a:r>
                    </a:p>
                  </a:txBody>
                  <a:tcPr marL="91440" marR="91440" marT="45720" marB="45720"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Referência real</a:t>
                      </a:r>
                    </a:p>
                  </a:txBody>
                  <a:tcPr marL="91440" marR="91440" marT="45720" marB="45720"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Resultado</a:t>
                      </a:r>
                    </a:p>
                  </a:txBody>
                  <a:tcPr marL="91440" marR="91440" marT="45720" marB="45720">
                    <a:solidFill>
                      <a:srgbClr val="123B63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Próxima</a:t>
                      </a:r>
                    </a:p>
                  </a:txBody>
                  <a:tcPr marL="91440" marR="91440" marT="45720" marB="45720"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Dentro da faixa</a:t>
                      </a:r>
                    </a:p>
                  </a:txBody>
                  <a:tcPr marL="91440" marR="91440" marT="45720" marB="45720"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855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Aprovar</a:t>
                      </a:r>
                    </a:p>
                  </a:txBody>
                  <a:tcPr marL="91440" marR="91440" marT="45720" marB="45720">
                    <a:solidFill>
                      <a:srgbClr val="E5F4EA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Próxima</a:t>
                      </a:r>
                    </a:p>
                  </a:txBody>
                  <a:tcPr marL="91440" marR="91440" marT="45720" marB="45720"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e sintética raras</a:t>
                      </a:r>
                    </a:p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mesmo sentido</a:t>
                      </a:r>
                    </a:p>
                  </a:txBody>
                  <a:tcPr marL="91440" marR="91440" marT="45720" marB="45720"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855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Aprovar com observação</a:t>
                      </a:r>
                    </a:p>
                  </a:txBody>
                  <a:tcPr marL="91440" marR="91440" marT="45720" marB="45720">
                    <a:solidFill>
                      <a:srgbClr val="E5F4EA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Distante</a:t>
                      </a:r>
                    </a:p>
                  </a:txBody>
                  <a:tcPr marL="91440" marR="91440" marT="45720" marB="45720">
                    <a:solidFill>
                      <a:srgbClr val="FFF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Dentro da faixa</a:t>
                      </a:r>
                    </a:p>
                  </a:txBody>
                  <a:tcPr marL="91440" marR="91440" marT="45720" marB="45720">
                    <a:solidFill>
                      <a:srgbClr val="FFF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779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Revisão manual</a:t>
                      </a:r>
                    </a:p>
                    <a:p>
                      <a:r>
                        <a:rPr sz="1200" b="1">
                          <a:solidFill>
                            <a:srgbClr val="B779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Possível regressão à média</a:t>
                      </a:r>
                    </a:p>
                  </a:txBody>
                  <a:tcPr marL="91440" marR="91440" marT="45720" marB="45720">
                    <a:solidFill>
                      <a:srgbClr val="FFF4D8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Distante</a:t>
                      </a: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Fora da faixa</a:t>
                      </a: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530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Rejeitar</a:t>
                      </a:r>
                    </a:p>
                    <a:p>
                      <a:r>
                        <a:rPr sz="1200" b="1">
                          <a:solidFill>
                            <a:srgbClr val="C530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Não entra no augmentation</a:t>
                      </a: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ADFBF-51EE-4970-B695-C6FA4DC2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267325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Somente o caso em vermelho é descartado automaticamente. O caso amarelo fica fora até revisão, porque pode apagar diversidade útil do dataset.</a:t>
            </a:r>
          </a:p>
        </p:txBody>
      </p:sp>
    </p:spTree>
    <p:extLst>
      <p:ext uri="{BB962C8B-B14F-4D97-AF65-F5344CB8AC3E}">
        <p14:creationId xmlns:p14="http://schemas.microsoft.com/office/powerpoint/2010/main" val="13405400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2026-09-04T11:16:25.9230000Z</dcterms:created>
  <dcterms:modified xsi:type="dcterms:W3CDTF">2026-09-04T11:16:25.9230000Z</dcterms:modified>
</coreProperties>
</file>